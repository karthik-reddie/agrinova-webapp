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95" r:id="rId5"/>
    <p:sldId id="258" r:id="rId6"/>
    <p:sldId id="259" r:id="rId7"/>
    <p:sldId id="260" r:id="rId8"/>
    <p:sldId id="261" r:id="rId9"/>
    <p:sldId id="282" r:id="rId10"/>
    <p:sldId id="284" r:id="rId11"/>
    <p:sldId id="285" r:id="rId12"/>
    <p:sldId id="286" r:id="rId13"/>
    <p:sldId id="288" r:id="rId14"/>
    <p:sldId id="289" r:id="rId15"/>
    <p:sldId id="290" r:id="rId16"/>
    <p:sldId id="291" r:id="rId17"/>
    <p:sldId id="296" r:id="rId18"/>
    <p:sldId id="297" r:id="rId19"/>
    <p:sldId id="298" r:id="rId20"/>
    <p:sldId id="283" r:id="rId21"/>
    <p:sldId id="301" r:id="rId22"/>
    <p:sldId id="294" r:id="rId23"/>
  </p:sldIdLst>
  <p:sldSz cx="9144000" cy="5143500" type="screen16x9"/>
  <p:notesSz cx="6858000" cy="9144000"/>
  <p:embeddedFontLst>
    <p:embeddedFont>
      <p:font typeface="Overlock" panose="02000506030000020004"/>
      <p:regular r:id="rId27"/>
      <p:bold r:id="rId28"/>
      <p:italic r:id="rId29"/>
      <p:boldItalic r:id="rId30"/>
    </p:embeddedFont>
    <p:embeddedFont>
      <p:font typeface="Poppins" panose="0000050000000000000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7"/>
        <p:cNvGrpSpPr/>
        <p:nvPr/>
      </p:nvGrpSpPr>
      <p:grpSpPr>
        <a:xfrm>
          <a:off x="0" y="0"/>
          <a:ext cx="0" cy="0"/>
          <a:chOff x="0" y="0"/>
          <a:chExt cx="0" cy="0"/>
        </a:xfrm>
      </p:grpSpPr>
      <p:sp>
        <p:nvSpPr>
          <p:cNvPr id="248" name="Google Shape;2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4"/>
        <p:cNvGrpSpPr/>
        <p:nvPr/>
      </p:nvGrpSpPr>
      <p:grpSpPr>
        <a:xfrm>
          <a:off x="0" y="0"/>
          <a:ext cx="0" cy="0"/>
          <a:chOff x="0" y="0"/>
          <a:chExt cx="0" cy="0"/>
        </a:xfrm>
      </p:grpSpPr>
      <p:sp>
        <p:nvSpPr>
          <p:cNvPr id="475" name="Google Shape;4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1"/>
        <p:cNvGrpSpPr/>
        <p:nvPr/>
      </p:nvGrpSpPr>
      <p:grpSpPr>
        <a:xfrm>
          <a:off x="0" y="0"/>
          <a:ext cx="0" cy="0"/>
          <a:chOff x="0" y="0"/>
          <a:chExt cx="0" cy="0"/>
        </a:xfrm>
      </p:grpSpPr>
      <p:sp>
        <p:nvSpPr>
          <p:cNvPr id="482" name="Google Shape;4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8"/>
        <p:cNvGrpSpPr/>
        <p:nvPr/>
      </p:nvGrpSpPr>
      <p:grpSpPr>
        <a:xfrm>
          <a:off x="0" y="0"/>
          <a:ext cx="0" cy="0"/>
          <a:chOff x="0" y="0"/>
          <a:chExt cx="0" cy="0"/>
        </a:xfrm>
      </p:grpSpPr>
      <p:sp>
        <p:nvSpPr>
          <p:cNvPr id="489" name="Google Shape;4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1"/>
        <p:cNvGrpSpPr/>
        <p:nvPr/>
      </p:nvGrpSpPr>
      <p:grpSpPr>
        <a:xfrm>
          <a:off x="0" y="0"/>
          <a:ext cx="0" cy="0"/>
          <a:chOff x="0" y="0"/>
          <a:chExt cx="0" cy="0"/>
        </a:xfrm>
      </p:grpSpPr>
      <p:sp>
        <p:nvSpPr>
          <p:cNvPr id="502" name="Google Shape;5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endParaRPr lang="en-US"/>
          </a:p>
        </p:txBody>
      </p:sp>
      <p:sp>
        <p:nvSpPr>
          <p:cNvPr id="3" name="Subtitle 2"/>
          <p:cNvSpPr>
            <a:spLocks noGrp="1"/>
          </p:cNvSpPr>
          <p:nvPr>
            <p:ph type="subTitle" idx="1"/>
          </p:nvPr>
        </p:nvSpPr>
        <p:spPr>
          <a:xfrm>
            <a:off x="1143000" y="2701529"/>
            <a:ext cx="6858000" cy="124182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3375"/>
            </a:lvl1pPr>
          </a:lstStyle>
          <a:p>
            <a:r>
              <a:rPr lang="en-US"/>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0"/>
            <a:ext cx="4032504" cy="33944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54296" y="1200150"/>
            <a:ext cx="4032504" cy="33944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endParaRPr lang="en-US"/>
          </a:p>
        </p:txBody>
      </p:sp>
      <p:sp>
        <p:nvSpPr>
          <p:cNvPr id="4" name="Content Placeholder 3"/>
          <p:cNvSpPr>
            <a:spLocks noGrp="1"/>
          </p:cNvSpPr>
          <p:nvPr>
            <p:ph sz="half" idx="2"/>
          </p:nvPr>
        </p:nvSpPr>
        <p:spPr>
          <a:xfrm>
            <a:off x="629841" y="1878806"/>
            <a:ext cx="3868340"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5293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05979"/>
            <a:ext cx="8229600" cy="85725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200150"/>
            <a:ext cx="8229600" cy="3394472"/>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4683919"/>
            <a:ext cx="2133600" cy="357188"/>
          </a:xfrm>
          <a:prstGeom prst="rect">
            <a:avLst/>
          </a:prstGeom>
          <a:noFill/>
          <a:ln w="9525">
            <a:noFill/>
          </a:ln>
        </p:spPr>
        <p:txBody>
          <a:bodyPr/>
          <a:lstStyle>
            <a:lvl1pPr>
              <a:defRPr sz="1050"/>
            </a:lvl1pPr>
          </a:lstStyle>
          <a:p>
            <a:pPr lvl="0"/>
            <a:endParaRPr lang="en-US"/>
          </a:p>
        </p:txBody>
      </p:sp>
      <p:sp>
        <p:nvSpPr>
          <p:cNvPr id="1029" name="Footer Placeholder 1028"/>
          <p:cNvSpPr>
            <a:spLocks noGrp="1"/>
          </p:cNvSpPr>
          <p:nvPr>
            <p:ph type="ftr" sz="quarter" idx="3"/>
          </p:nvPr>
        </p:nvSpPr>
        <p:spPr>
          <a:xfrm>
            <a:off x="3124200" y="4683919"/>
            <a:ext cx="2895600" cy="357188"/>
          </a:xfrm>
          <a:prstGeom prst="rect">
            <a:avLst/>
          </a:prstGeom>
          <a:noFill/>
          <a:ln w="9525">
            <a:noFill/>
          </a:ln>
        </p:spPr>
        <p:txBody>
          <a:bodyPr/>
          <a:lstStyle>
            <a:lvl1pPr algn="ctr">
              <a:defRPr sz="1050"/>
            </a:lvl1pPr>
          </a:lstStyle>
          <a:p>
            <a:pPr lvl="0"/>
            <a:endParaRPr lang="en-US"/>
          </a:p>
        </p:txBody>
      </p:sp>
      <p:sp>
        <p:nvSpPr>
          <p:cNvPr id="1030" name="Slide Number Placeholder 1029"/>
          <p:cNvSpPr>
            <a:spLocks noGrp="1"/>
          </p:cNvSpPr>
          <p:nvPr>
            <p:ph type="sldNum" sz="quarter" idx="4"/>
          </p:nvPr>
        </p:nvSpPr>
        <p:spPr>
          <a:xfrm>
            <a:off x="6553200" y="4683919"/>
            <a:ext cx="2133600" cy="357188"/>
          </a:xfrm>
          <a:prstGeom prst="rect">
            <a:avLst/>
          </a:prstGeom>
          <a:noFill/>
          <a:ln w="9525">
            <a:noFill/>
          </a:ln>
        </p:spPr>
        <p:txBody>
          <a:bodyPr/>
          <a:lstStyle>
            <a:lvl1pPr algn="r">
              <a:defRPr sz="1050"/>
            </a:lvl1pPr>
          </a:lstStyle>
          <a:p>
            <a:pPr lvl="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3995"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057400" lvl="6"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2400300" lvl="7"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2743200" lvl="8"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9.jpe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2" name="Google Shape;252;p23"/>
          <p:cNvSpPr txBox="1">
            <a:spLocks noGrp="1"/>
          </p:cNvSpPr>
          <p:nvPr>
            <p:ph type="subTitle" idx="1"/>
          </p:nvPr>
        </p:nvSpPr>
        <p:spPr>
          <a:xfrm>
            <a:off x="948942" y="3374566"/>
            <a:ext cx="5227500" cy="127631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GB" b="1" u="sng" dirty="0">
                <a:solidFill>
                  <a:srgbClr val="FF0000"/>
                </a:solidFill>
                <a:latin typeface="Overlock" panose="02000506030000020004"/>
                <a:ea typeface="Overlock" panose="02000506030000020004"/>
                <a:cs typeface="Overlock" panose="02000506030000020004"/>
                <a:sym typeface="Overlock" panose="02000506030000020004"/>
              </a:rPr>
              <a:t>PRESENTED BY</a:t>
            </a:r>
            <a:r>
              <a:rPr lang="en-GB" b="1" u="sng" dirty="0">
                <a:solidFill>
                  <a:srgbClr val="C00000"/>
                </a:solidFill>
                <a:latin typeface="Overlock" panose="02000506030000020004"/>
                <a:ea typeface="Overlock" panose="02000506030000020004"/>
                <a:cs typeface="Overlock" panose="02000506030000020004"/>
                <a:sym typeface="Overlock" panose="02000506030000020004"/>
              </a:rPr>
              <a:t>:</a:t>
            </a:r>
            <a:endParaRPr lang="en-GB" u="sng" dirty="0">
              <a:latin typeface="Overlock" panose="02000506030000020004"/>
              <a:ea typeface="Overlock" panose="02000506030000020004"/>
              <a:cs typeface="Overlock" panose="02000506030000020004"/>
              <a:sym typeface="Overlock" panose="02000506030000020004"/>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U. </a:t>
            </a:r>
            <a:r>
              <a:rPr lang="en-US" dirty="0" err="1">
                <a:latin typeface="Times New Roman" panose="02020603050405020304" pitchFamily="18" charset="0"/>
                <a:cs typeface="Times New Roman" panose="02020603050405020304" pitchFamily="18" charset="0"/>
              </a:rPr>
              <a:t>Karthik</a:t>
            </a:r>
            <a:r>
              <a:rPr lang="en-US" dirty="0">
                <a:latin typeface="Times New Roman" panose="02020603050405020304" pitchFamily="18" charset="0"/>
                <a:cs typeface="Times New Roman" panose="02020603050405020304" pitchFamily="18" charset="0"/>
              </a:rPr>
              <a:t> Reddy</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227R1A66K2</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R. Sai </a:t>
            </a:r>
            <a:r>
              <a:rPr lang="en-US" dirty="0" err="1">
                <a:latin typeface="Times New Roman" panose="02020603050405020304" pitchFamily="18" charset="0"/>
                <a:cs typeface="Times New Roman" panose="02020603050405020304" pitchFamily="18" charset="0"/>
              </a:rPr>
              <a:t>kiran</a:t>
            </a:r>
            <a:r>
              <a:rPr lang="en-US"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227R1A66J3</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lgn="l" rtl="0">
              <a:lnSpc>
                <a:spcPct val="100000"/>
              </a:lnSpc>
              <a:spcBef>
                <a:spcPts val="0"/>
              </a:spcBef>
              <a:spcAft>
                <a:spcPts val="0"/>
              </a:spcAft>
              <a:buSzPts val="1200"/>
              <a:buFont typeface="Arial" panose="020B0604020202020204"/>
              <a:buChar char="•"/>
            </a:pPr>
            <a:r>
              <a:rPr lang="en-US" dirty="0">
                <a:latin typeface="Times New Roman" panose="02020603050405020304" pitchFamily="18" charset="0"/>
                <a:cs typeface="Times New Roman" panose="02020603050405020304" pitchFamily="18" charset="0"/>
              </a:rPr>
              <a:t>K. Srinivas </a:t>
            </a:r>
            <a:r>
              <a:rPr lang="en-GB"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227R1A66G0</a:t>
            </a:r>
            <a:r>
              <a:rPr lang="en-GB"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
        <p:nvSpPr>
          <p:cNvPr id="257" name="Google Shape;257;p23"/>
          <p:cNvSpPr txBox="1"/>
          <p:nvPr/>
        </p:nvSpPr>
        <p:spPr>
          <a:xfrm>
            <a:off x="5225123" y="3427986"/>
            <a:ext cx="3163803"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altLang="en-GB" sz="1600" b="1" i="0" u="sng" strike="noStrike" cap="none" dirty="0">
                <a:solidFill>
                  <a:srgbClr val="FF0000"/>
                </a:solidFill>
                <a:latin typeface="Overlock" panose="02000506030000020004"/>
                <a:ea typeface="Overlock" panose="02000506030000020004"/>
                <a:cs typeface="Overlock" panose="02000506030000020004"/>
                <a:sym typeface="Overlock" panose="02000506030000020004"/>
              </a:rPr>
              <a:t>U</a:t>
            </a:r>
            <a:r>
              <a:rPr lang="en-GB" sz="1600" b="1" i="0" u="sng" strike="noStrike" cap="none" dirty="0">
                <a:solidFill>
                  <a:srgbClr val="FF0000"/>
                </a:solidFill>
                <a:latin typeface="Overlock" panose="02000506030000020004"/>
                <a:ea typeface="Overlock" panose="02000506030000020004"/>
                <a:cs typeface="Overlock" panose="02000506030000020004"/>
                <a:sym typeface="Overlock" panose="02000506030000020004"/>
              </a:rPr>
              <a:t>NDER THE GUIDANCE OF</a:t>
            </a:r>
            <a:r>
              <a:rPr lang="en-GB"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rPr>
              <a:t>:</a:t>
            </a:r>
            <a:endParaRPr lang="en-US"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endParaRPr>
          </a:p>
          <a:p>
            <a:pPr marL="0" marR="0" lvl="0" indent="0" algn="l" rtl="0">
              <a:lnSpc>
                <a:spcPct val="100000"/>
              </a:lnSpc>
              <a:spcBef>
                <a:spcPts val="0"/>
              </a:spcBef>
              <a:spcAft>
                <a:spcPts val="0"/>
              </a:spcAft>
              <a:buNone/>
            </a:pPr>
            <a:r>
              <a:rPr lang="en-US" sz="1600" b="1" i="0" u="sng" strike="noStrike" cap="none" dirty="0">
                <a:solidFill>
                  <a:srgbClr val="000000"/>
                </a:solidFill>
                <a:latin typeface="Overlock" panose="02000506030000020004"/>
                <a:ea typeface="Overlock" panose="02000506030000020004"/>
                <a:cs typeface="Overlock" panose="02000506030000020004"/>
                <a:sym typeface="Overlock" panose="02000506030000020004"/>
              </a:rPr>
              <a:t>N.</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Sandeep</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GB" sz="1600" dirty="0">
                <a:latin typeface="Times New Roman" panose="02020603050405020304" pitchFamily="18" charset="0"/>
                <a:ea typeface="Poppins" panose="00000500000000000000"/>
                <a:cs typeface="Times New Roman" panose="02020603050405020304" pitchFamily="18" charset="0"/>
                <a:sym typeface="Poppins" panose="00000500000000000000"/>
              </a:rPr>
              <a:t>Asst. Prof</a:t>
            </a:r>
            <a:r>
              <a:rPr 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1600" b="0" i="0" u="none" strike="noStrike" cap="none" dirty="0">
              <a:solidFill>
                <a:srgbClr val="000000"/>
              </a:solidFill>
              <a:latin typeface="Times New Roman" panose="02020603050405020304" pitchFamily="18" charset="0"/>
              <a:ea typeface="Overlock" panose="02000506030000020004"/>
              <a:cs typeface="Times New Roman" panose="02020603050405020304" pitchFamily="18" charset="0"/>
              <a:sym typeface="Overlock" panose="02000506030000020004"/>
            </a:endParaRPr>
          </a:p>
        </p:txBody>
      </p:sp>
      <p:sp>
        <p:nvSpPr>
          <p:cNvPr id="3" name="Title 0"/>
          <p:cNvSpPr>
            <a:spLocks noGrp="1"/>
          </p:cNvSpPr>
          <p:nvPr>
            <p:ph type="ctrTitle"/>
          </p:nvPr>
        </p:nvSpPr>
        <p:spPr>
          <a:xfrm>
            <a:off x="1143000" y="1028861"/>
            <a:ext cx="6858000" cy="1790700"/>
          </a:xfrm>
        </p:spPr>
        <p:txBody>
          <a:bodyPr/>
          <a:lstStyle/>
          <a:p>
            <a:r>
              <a:rPr lang="en-IN" altLang="en-US" sz="2000" b="1" dirty="0">
                <a:solidFill>
                  <a:srgbClr val="C00000"/>
                </a:solidFill>
              </a:rPr>
              <a:t>DEPARTMENT OF CSE(AI&amp;ML)</a:t>
            </a:r>
            <a:br>
              <a:rPr lang="en-IN" altLang="en-US" sz="2000" b="1" dirty="0"/>
            </a:br>
            <a:r>
              <a:rPr lang="en-IN" altLang="en-US" sz="2000" b="1" dirty="0">
                <a:solidFill>
                  <a:srgbClr val="00B050"/>
                </a:solidFill>
              </a:rPr>
              <a:t>M</a:t>
            </a:r>
            <a:r>
              <a:rPr lang="en-US" altLang="en-IN" sz="2000" b="1" dirty="0">
                <a:solidFill>
                  <a:srgbClr val="00B050"/>
                </a:solidFill>
              </a:rPr>
              <a:t>ajor</a:t>
            </a:r>
            <a:r>
              <a:rPr lang="en-IN" altLang="en-US" sz="2000" b="1" dirty="0">
                <a:solidFill>
                  <a:srgbClr val="00B050"/>
                </a:solidFill>
              </a:rPr>
              <a:t> Project </a:t>
            </a:r>
            <a:br>
              <a:rPr lang="en-US" altLang="en-US" sz="2000" b="1" dirty="0">
                <a:solidFill>
                  <a:srgbClr val="00B050"/>
                </a:solidFill>
              </a:rPr>
            </a:br>
            <a:r>
              <a:rPr lang="en-US" altLang="en-US" sz="2000" b="1" dirty="0">
                <a:solidFill>
                  <a:schemeClr val="tx1"/>
                </a:solidFill>
              </a:rPr>
              <a:t>  AGRINOVA  APPLICATION USING AI&amp;ML</a:t>
            </a:r>
            <a:endParaRPr lang="en-IN" altLang="en-US" sz="2000" dirty="0">
              <a:solidFill>
                <a:schemeClr val="tx1"/>
              </a:solidFill>
            </a:endParaRPr>
          </a:p>
        </p:txBody>
      </p:sp>
      <p:pic>
        <p:nvPicPr>
          <p:cNvPr id="2" name="Picture 1" descr="header"/>
          <p:cNvPicPr>
            <a:picLocks noChangeAspect="1"/>
          </p:cNvPicPr>
          <p:nvPr/>
        </p:nvPicPr>
        <p:blipFill>
          <a:blip r:embed="rId1"/>
          <a:stretch>
            <a:fillRect/>
          </a:stretch>
        </p:blipFill>
        <p:spPr>
          <a:xfrm>
            <a:off x="1044575" y="267335"/>
            <a:ext cx="7055485" cy="1173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3200" b="1" u="sng"/>
              <a:t>INTRODUCTION</a:t>
            </a:r>
            <a:endParaRPr lang="en-US" altLang="en-GB" sz="3200" b="1" u="sng"/>
          </a:p>
        </p:txBody>
      </p:sp>
      <p:sp>
        <p:nvSpPr>
          <p:cNvPr id="3" name="Content Placeholder 2"/>
          <p:cNvSpPr>
            <a:spLocks noGrp="1"/>
          </p:cNvSpPr>
          <p:nvPr>
            <p:ph idx="1"/>
          </p:nvPr>
        </p:nvSpPr>
        <p:spPr/>
        <p:txBody>
          <a:bodyPr/>
          <a:p>
            <a:r>
              <a:rPr lang="en-US" altLang="en-GB" sz="1600">
                <a:latin typeface="Times New Roman" panose="02020603050405020304" pitchFamily="18" charset="0"/>
                <a:cs typeface="Times New Roman" panose="02020603050405020304" pitchFamily="18" charset="0"/>
              </a:rPr>
              <a:t>Agriculture plays a vital role in economic growth, but farmers often face challenges such as unpredictable weather, crop diseases, and lack of timely expert guidance. To overcome these issues, our major project “AGRINOVA Application” provides a smart and integrated digital solution for modern farming. The application focuses on three core features: weather condition prediction, crop disease prediction, and an AI-powered chatbot. Weather prediction helps farmers plan sowing, irrigation, and harvesting efficiently. Disease prediction enables early identification of crop diseases, reducing losses and improving yield. The chatbot acts as a virtual assistant, offering instant guidance on crops, fertilizers, and farming practices. AGRINOVA aims to empower farmers with technology-driven insights, enhance productivity, and promote sustainable agriculture.</a:t>
            </a:r>
            <a:endParaRPr lang="en-US" altLang="en-GB" sz="16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lvl="0"/>
            <a:fld id="{9A0DB2DC-4C9A-4742-B13C-FB6460FD3503}"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25"/>
          <p:cNvSpPr txBox="1"/>
          <p:nvPr/>
        </p:nvSpPr>
        <p:spPr>
          <a:xfrm>
            <a:off x="3378586" y="515135"/>
            <a:ext cx="2977218"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rPr>
              <a:t>A</a:t>
            </a:r>
            <a:r>
              <a:rPr lang="en-GB" sz="2800" b="1" u="sng" dirty="0">
                <a:latin typeface="Times New Roman" panose="02020603050405020304" pitchFamily="18" charset="0"/>
                <a:ea typeface="Arial Rounded"/>
                <a:cs typeface="Times New Roman" panose="02020603050405020304" pitchFamily="18" charset="0"/>
                <a:sym typeface="Arial Rounded"/>
              </a:rPr>
              <a:t>BSTRACT</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479" name="Google Shape;479;p25"/>
          <p:cNvSpPr txBox="1"/>
          <p:nvPr/>
        </p:nvSpPr>
        <p:spPr>
          <a:xfrm>
            <a:off x="751967" y="395607"/>
            <a:ext cx="8231726" cy="4152900"/>
          </a:xfrm>
          <a:prstGeom prst="rect">
            <a:avLst/>
          </a:prstGeom>
          <a:noFill/>
          <a:ln>
            <a:noFill/>
          </a:ln>
        </p:spPr>
        <p:txBody>
          <a:bodyPr spcFirstLastPara="1" wrap="square" lIns="91425" tIns="45700" rIns="91425" bIns="45700" anchor="b" anchorCtr="0">
            <a:spAutoFit/>
          </a:bodyPr>
          <a:lstStyle/>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r>
              <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This project leverages Large Language Models (LLMs) to build an intelligent chatbot for Indian farmers, enabling natural language interaction to provide context-aware agricultural guidance. The system accepts user queries in multiple languages and responds with relevant information using a Groq-hosted LLM. Additionally, it includes a plant disease detection module powered by computer vision, allowing farmers to upload images of crops and receive instant diagnoses. By combining conversational AI with visual analysis, the platform aims to bridge the knowledge gap in rural farming communities, offering real-time, AI-driven support to enhance crop health and boost sustainable agricultural practices.</a:t>
            </a: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a:p>
            <a:pPr marR="0" lvl="0" rtl="0">
              <a:lnSpc>
                <a:spcPct val="150000"/>
              </a:lnSpc>
              <a:spcBef>
                <a:spcPts val="0"/>
              </a:spcBef>
              <a:spcAft>
                <a:spcPts val="0"/>
              </a:spcAft>
              <a:buClr>
                <a:srgbClr val="000000"/>
              </a:buClr>
              <a:buSzPts val="1500"/>
            </a:pPr>
            <a:endParaRPr lang="en-US" altLang="en-GB" sz="1600" b="0" i="0" u="none" strike="noStrike" cap="none"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6"/>
          <p:cNvSpPr txBox="1"/>
          <p:nvPr/>
        </p:nvSpPr>
        <p:spPr>
          <a:xfrm>
            <a:off x="2775568" y="453154"/>
            <a:ext cx="4086478"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rPr>
              <a:t>EXISTING SYSTEM</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486" name="Google Shape;486;p26"/>
          <p:cNvSpPr txBox="1"/>
          <p:nvPr/>
        </p:nvSpPr>
        <p:spPr>
          <a:xfrm>
            <a:off x="1480558" y="1453014"/>
            <a:ext cx="7403529" cy="1936750"/>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Traditional Agriculture Helplines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Web Portals or Mobile Apps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Manual Disease Diagnosis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Language and Literacy Barriers</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Lack of Real-time Support</a:t>
            </a:r>
            <a:endParaRPr lang="en-US" altLang="en-GB" sz="1800" dirty="0">
              <a:latin typeface="Times New Roman" panose="02020603050405020304" pitchFamily="18" charset="0"/>
              <a:cs typeface="Times New Roman" panose="02020603050405020304" pitchFamily="18" charset="0"/>
            </a:endParaRPr>
          </a:p>
          <a:p>
            <a:pPr marR="0" lvl="0" algn="just" rtl="0">
              <a:lnSpc>
                <a:spcPct val="150000"/>
              </a:lnSpc>
              <a:spcBef>
                <a:spcPts val="0"/>
              </a:spcBef>
              <a:spcAft>
                <a:spcPts val="0"/>
              </a:spcAft>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500" name="Google Shape;500;p27"/>
          <p:cNvSpPr txBox="1"/>
          <p:nvPr/>
        </p:nvSpPr>
        <p:spPr>
          <a:xfrm>
            <a:off x="2928131" y="504895"/>
            <a:ext cx="3876085"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u="sng" dirty="0">
                <a:latin typeface="Times New Roman" panose="02020603050405020304" pitchFamily="18" charset="0"/>
                <a:ea typeface="Arial Rounded"/>
                <a:cs typeface="Times New Roman" panose="02020603050405020304" pitchFamily="18" charset="0"/>
                <a:sym typeface="Arial Rounded"/>
              </a:rPr>
              <a:t>DISADVANTAGES</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2" name="Rectangle 1"/>
          <p:cNvSpPr>
            <a:spLocks noChangeArrowheads="1"/>
          </p:cNvSpPr>
          <p:nvPr/>
        </p:nvSpPr>
        <p:spPr bwMode="auto">
          <a:xfrm>
            <a:off x="766632" y="1503362"/>
            <a:ext cx="8830817" cy="166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28600" indent="-228600">
              <a:buFont typeface="+mj-lt"/>
              <a:buAutoNum type="arabicPeriod"/>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sz="1800" dirty="0"/>
              <a:t> </a:t>
            </a:r>
            <a:r>
              <a:rPr lang="en-US" altLang="en-GB" sz="1800" dirty="0">
                <a:latin typeface="Times New Roman" panose="02020603050405020304" pitchFamily="18" charset="0"/>
                <a:cs typeface="Times New Roman" panose="02020603050405020304" pitchFamily="18" charset="0"/>
              </a:rPr>
              <a:t>Limited Availability</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Not Scalable</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No Visual Intelligence</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Language Inaccessibility:</a:t>
            </a:r>
            <a:endParaRPr lang="en-US" altLang="en-GB"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en-GB" sz="1800" dirty="0">
                <a:latin typeface="Times New Roman" panose="02020603050405020304" pitchFamily="18" charset="0"/>
                <a:cs typeface="Times New Roman" panose="02020603050405020304" pitchFamily="18" charset="0"/>
              </a:rPr>
              <a:t>Low Personalization</a:t>
            </a:r>
            <a:endParaRPr lang="en-US" altLang="en-GB"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28"/>
          <p:cNvSpPr txBox="1"/>
          <p:nvPr/>
        </p:nvSpPr>
        <p:spPr>
          <a:xfrm>
            <a:off x="528648" y="420775"/>
            <a:ext cx="8024700" cy="52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2800" b="1" u="sng" dirty="0">
                <a:latin typeface="Times New Roman" panose="02020603050405020304" pitchFamily="18" charset="0"/>
                <a:ea typeface="Arial Rounded"/>
                <a:cs typeface="Times New Roman" panose="02020603050405020304" pitchFamily="18" charset="0"/>
                <a:sym typeface="Arial Rounded"/>
              </a:rPr>
              <a:t>PROPOSED SYSTEM</a:t>
            </a:r>
            <a:endParaRPr sz="2800" b="1" i="0" u="sng" strike="noStrike" cap="none" dirty="0">
              <a:solidFill>
                <a:srgbClr val="000000"/>
              </a:solidFill>
              <a:latin typeface="Times New Roman" panose="02020603050405020304" pitchFamily="18" charset="0"/>
              <a:ea typeface="Arial Rounded"/>
              <a:cs typeface="Times New Roman" panose="02020603050405020304" pitchFamily="18" charset="0"/>
              <a:sym typeface="Arial Rounded"/>
            </a:endParaRPr>
          </a:p>
        </p:txBody>
      </p:sp>
      <p:sp>
        <p:nvSpPr>
          <p:cNvPr id="506" name="Google Shape;506;p28"/>
          <p:cNvSpPr/>
          <p:nvPr/>
        </p:nvSpPr>
        <p:spPr>
          <a:xfrm>
            <a:off x="1027983" y="782394"/>
            <a:ext cx="7299300" cy="3416700"/>
          </a:xfrm>
          <a:prstGeom prst="rect">
            <a:avLst/>
          </a:prstGeom>
          <a:noFill/>
          <a:ln>
            <a:noFill/>
          </a:ln>
        </p:spPr>
        <p:txBody>
          <a:bodyPr spcFirstLastPara="1" wrap="square" lIns="0" tIns="198375" rIns="0" bIns="198375" anchor="ctr" anchorCtr="0">
            <a:noAutofit/>
          </a:bodyPr>
          <a:lstStyle/>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AI Chatbot (LLM-based)</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Plant Disease Detection</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en-GB" sz="1800" dirty="0">
                <a:latin typeface="Times New Roman" panose="02020603050405020304" pitchFamily="18" charset="0"/>
                <a:cs typeface="Times New Roman" panose="02020603050405020304" pitchFamily="18" charset="0"/>
              </a:rPr>
              <a:t>Web-based Interface/API</a:t>
            </a:r>
            <a:endParaRPr lang="en-US" altLang="en-GB"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a:latin typeface="Times New Roman" panose="02020603050405020304" pitchFamily="18" charset="0"/>
                <a:cs typeface="Times New Roman" panose="02020603050405020304" pitchFamily="18" charset="0"/>
              </a:rPr>
              <a:t>Efficient and Fast Processing with Deep Learning Models</a:t>
            </a:r>
            <a:endParaRPr lang="en-US" sz="1800" dirty="0">
              <a:latin typeface="Times New Roman" panose="02020603050405020304" pitchFamily="18" charset="0"/>
              <a:cs typeface="Times New Roman" panose="02020603050405020304" pitchFamily="18" charset="0"/>
            </a:endParaRPr>
          </a:p>
          <a:p>
            <a:pPr marL="342900" marR="0" lvl="0" indent="-342900" algn="just" rtl="0">
              <a:lnSpc>
                <a:spcPct val="150000"/>
              </a:lnSpc>
              <a:spcBef>
                <a:spcPts val="0"/>
              </a:spcBef>
              <a:spcAft>
                <a:spcPts val="0"/>
              </a:spcAft>
              <a:buClr>
                <a:srgbClr val="000000"/>
              </a:buClr>
              <a:buSzPts val="1800"/>
              <a:buFont typeface="+mj-lt"/>
              <a:buAutoNum type="arabicPeriod"/>
            </a:pPr>
            <a:r>
              <a:rPr lang="en-US" altLang="en-GB" sz="1800" dirty="0">
                <a:solidFill>
                  <a:schemeClr val="dk1"/>
                </a:solidFill>
                <a:latin typeface="Times New Roman" panose="02020603050405020304" pitchFamily="18" charset="0"/>
                <a:cs typeface="Times New Roman" panose="02020603050405020304" pitchFamily="18" charset="0"/>
              </a:rPr>
              <a:t>  Weather-Integrated Advisory</a:t>
            </a:r>
            <a:endParaRPr lang="en-US" altLang="en-GB" sz="1800" dirty="0">
              <a:solidFill>
                <a:schemeClr val="dk1"/>
              </a:solidFill>
              <a:latin typeface="Times New Roman" panose="02020603050405020304" pitchFamily="18" charset="0"/>
              <a:cs typeface="Times New Roman" panose="02020603050405020304" pitchFamily="18" charset="0"/>
            </a:endParaRPr>
          </a:p>
        </p:txBody>
      </p:sp>
      <p:sp>
        <p:nvSpPr>
          <p:cNvPr id="507" name="Google Shape;507;p28"/>
          <p:cNvSpPr/>
          <p:nvPr/>
        </p:nvSpPr>
        <p:spPr>
          <a:xfrm>
            <a:off x="0" y="0"/>
            <a:ext cx="528638"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br>
              <a:rPr lang="en-GB" sz="1800" b="0" i="0" u="none" strike="noStrike" cap="none">
                <a:solidFill>
                  <a:srgbClr val="000000"/>
                </a:solidFill>
                <a:latin typeface="Arial" panose="020B0604020202020204"/>
                <a:ea typeface="Arial" panose="020B0604020202020204"/>
                <a:cs typeface="Arial" panose="020B0604020202020204"/>
                <a:sym typeface="Arial" panose="020B0604020202020204"/>
              </a:rPr>
            </a:b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sz="2800" b="1" u="sng" dirty="0">
                <a:latin typeface="Times New Roman" panose="02020603050405020304" pitchFamily="18" charset="0"/>
                <a:cs typeface="Times New Roman" panose="02020603050405020304" pitchFamily="18" charset="0"/>
              </a:rPr>
              <a:t>ADVANTAGES</a:t>
            </a:r>
            <a:endParaRPr lang="en-US" altLang="en-GB" sz="2800" b="1" u="sng"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lvl="0"/>
            <a:fld id="{9A0DB2DC-4C9A-4742-B13C-FB6460FD3503}" type="slidenum">
              <a:rPr lang="en-US"/>
            </a:fld>
            <a:endParaRPr lang="en-US"/>
          </a:p>
        </p:txBody>
      </p:sp>
      <p:sp>
        <p:nvSpPr>
          <p:cNvPr id="4" name="Text Box 3"/>
          <p:cNvSpPr txBox="1"/>
          <p:nvPr/>
        </p:nvSpPr>
        <p:spPr>
          <a:xfrm>
            <a:off x="1257935" y="1303338"/>
            <a:ext cx="5080000" cy="1568450"/>
          </a:xfrm>
          <a:prstGeom prst="rect">
            <a:avLst/>
          </a:prstGeom>
        </p:spPr>
        <p:txBody>
          <a:bodyPr>
            <a:spAutoFit/>
          </a:bodyPr>
          <a:lstStyle/>
          <a:p>
            <a:pPr marL="342900" indent="-342900">
              <a:buAutoNum type="arabicPeriod"/>
            </a:pPr>
            <a:r>
              <a:rPr lang="en-US" altLang="zh-CN" sz="1600" dirty="0">
                <a:latin typeface="Times New Roman" panose="02020603050405020304" pitchFamily="18" charset="0"/>
                <a:cs typeface="Times New Roman" panose="02020603050405020304" pitchFamily="18" charset="0"/>
              </a:rPr>
              <a:t>24/7 Real-Time Assistance</a:t>
            </a:r>
            <a:endParaRPr lang="en-US" altLang="zh-CN"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Multilingual Support</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Image-Based Diagnosis</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Cost-Effective and Scalable</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Personalized, Context-Aware Responses</a:t>
            </a:r>
            <a:endParaRPr lang="en-US" altLang="en-GB" sz="1600" dirty="0">
              <a:latin typeface="Times New Roman" panose="02020603050405020304" pitchFamily="18" charset="0"/>
              <a:cs typeface="Times New Roman" panose="02020603050405020304" pitchFamily="18" charset="0"/>
            </a:endParaRPr>
          </a:p>
          <a:p>
            <a:pPr marL="342900" indent="-342900">
              <a:buAutoNum type="arabicPeriod"/>
            </a:pPr>
            <a:r>
              <a:rPr lang="en-US" altLang="en-GB" sz="1600" dirty="0">
                <a:latin typeface="Times New Roman" panose="02020603050405020304" pitchFamily="18" charset="0"/>
                <a:cs typeface="Times New Roman" panose="02020603050405020304" pitchFamily="18" charset="0"/>
              </a:rPr>
              <a:t>Bridges Knowledge Gap</a:t>
            </a:r>
            <a:endParaRPr lang="en-US" altLang="en-GB"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ARCHITECTURE</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5" name="Picture 4" descr="WhatsApp Image 2025-09-02 at 12.32.13_c201ba7d"/>
          <p:cNvPicPr>
            <a:picLocks noChangeAspect="1"/>
          </p:cNvPicPr>
          <p:nvPr/>
        </p:nvPicPr>
        <p:blipFill>
          <a:blip r:embed="rId1"/>
          <a:srcRect t="11034"/>
          <a:stretch>
            <a:fillRect/>
          </a:stretch>
        </p:blipFill>
        <p:spPr>
          <a:xfrm>
            <a:off x="969645" y="1062990"/>
            <a:ext cx="7472045" cy="35020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Software Requirements</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4" name="Text Box 3"/>
          <p:cNvSpPr txBox="1"/>
          <p:nvPr/>
        </p:nvSpPr>
        <p:spPr>
          <a:xfrm>
            <a:off x="1377315" y="1137285"/>
            <a:ext cx="4491990" cy="1896745"/>
          </a:xfrm>
          <a:prstGeom prst="rect">
            <a:avLst/>
          </a:prstGeom>
          <a:noFill/>
        </p:spPr>
        <p:txBody>
          <a:bodyPr wrap="square" rtlCol="0" anchor="t">
            <a:noAutofit/>
          </a:bodyPr>
          <a:p>
            <a:r>
              <a:rPr lang="en-US" altLang="en-GB" sz="1600">
                <a:latin typeface="Times New Roman" panose="02020603050405020304" pitchFamily="18" charset="0"/>
                <a:cs typeface="Times New Roman" panose="02020603050405020304" pitchFamily="18" charset="0"/>
              </a:rPr>
              <a:t>1.Frontend (React + vite )</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2. Backend (FastApi -Python , Noje.js - Express)</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3. Databases &amp; Storage </a:t>
            </a:r>
            <a:endParaRPr lang="en-US" altLang="en-GB" sz="1600">
              <a:latin typeface="Times New Roman" panose="02020603050405020304" pitchFamily="18" charset="0"/>
              <a:cs typeface="Times New Roman" panose="02020603050405020304" pitchFamily="18" charset="0"/>
            </a:endParaRPr>
          </a:p>
          <a:p>
            <a:pPr indent="457200"/>
            <a:r>
              <a:rPr lang="en-US" altLang="en-GB" sz="1600">
                <a:latin typeface="Times New Roman" panose="02020603050405020304" pitchFamily="18" charset="0"/>
                <a:cs typeface="Times New Roman" panose="02020603050405020304" pitchFamily="18" charset="0"/>
              </a:rPr>
              <a:t>RDB: MySQL</a:t>
            </a:r>
            <a:endParaRPr lang="en-US" altLang="en-GB" sz="1600">
              <a:latin typeface="Times New Roman" panose="02020603050405020304" pitchFamily="18" charset="0"/>
              <a:cs typeface="Times New Roman" panose="02020603050405020304" pitchFamily="18" charset="0"/>
            </a:endParaRPr>
          </a:p>
          <a:p>
            <a:pPr indent="457200"/>
            <a:r>
              <a:rPr lang="en-US" altLang="en-GB" sz="1600">
                <a:latin typeface="Times New Roman" panose="02020603050405020304" pitchFamily="18" charset="0"/>
                <a:cs typeface="Times New Roman" panose="02020603050405020304" pitchFamily="18" charset="0"/>
              </a:rPr>
              <a:t>VectorDB : Milvus</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4. Machine Learning (LLM ,Llama /OpenAi API)</a:t>
            </a:r>
            <a:endParaRPr lang="en-GB"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Hardware Requirements</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4" name="Text Box 3"/>
          <p:cNvSpPr txBox="1"/>
          <p:nvPr/>
        </p:nvSpPr>
        <p:spPr>
          <a:xfrm>
            <a:off x="1403350" y="1263650"/>
            <a:ext cx="3689350" cy="2061210"/>
          </a:xfrm>
          <a:prstGeom prst="rect">
            <a:avLst/>
          </a:prstGeom>
          <a:noFill/>
        </p:spPr>
        <p:txBody>
          <a:bodyPr wrap="square" rtlCol="0">
            <a:spAutoFit/>
          </a:bodyPr>
          <a:p>
            <a:r>
              <a:rPr lang="en-US" altLang="en-GB" sz="1600">
                <a:latin typeface="Times New Roman" panose="02020603050405020304" pitchFamily="18" charset="0"/>
                <a:cs typeface="Times New Roman" panose="02020603050405020304" pitchFamily="18" charset="0"/>
              </a:rPr>
              <a:t>RAM : 16GB </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GPU : NVIDIA GPU with CUDA support</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Storage : Minimun of 256 GB</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a:p>
            <a:r>
              <a:rPr lang="en-US" altLang="en-GB" sz="1600">
                <a:latin typeface="Times New Roman" panose="02020603050405020304" pitchFamily="18" charset="0"/>
                <a:cs typeface="Times New Roman" panose="02020603050405020304" pitchFamily="18" charset="0"/>
              </a:rPr>
              <a:t>Stable Internet Connection</a:t>
            </a:r>
            <a:endParaRPr lang="en-US" altLang="en-GB" sz="1600">
              <a:latin typeface="Times New Roman" panose="02020603050405020304" pitchFamily="18" charset="0"/>
              <a:cs typeface="Times New Roman" panose="02020603050405020304" pitchFamily="18" charset="0"/>
            </a:endParaRPr>
          </a:p>
          <a:p>
            <a:endParaRPr lang="en-US" altLang="en-GB"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UseCase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07.08_6a0972e4"/>
          <p:cNvPicPr>
            <a:picLocks noChangeAspect="1"/>
          </p:cNvPicPr>
          <p:nvPr/>
        </p:nvPicPr>
        <p:blipFill>
          <a:blip r:embed="rId1"/>
          <a:stretch>
            <a:fillRect/>
          </a:stretch>
        </p:blipFill>
        <p:spPr>
          <a:xfrm>
            <a:off x="1448435" y="972820"/>
            <a:ext cx="5906770" cy="37109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Sequence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15.29_2554d7b2"/>
          <p:cNvPicPr>
            <a:picLocks noChangeAspect="1"/>
          </p:cNvPicPr>
          <p:nvPr/>
        </p:nvPicPr>
        <p:blipFill>
          <a:blip r:embed="rId1"/>
          <a:stretch>
            <a:fillRect/>
          </a:stretch>
        </p:blipFill>
        <p:spPr>
          <a:xfrm>
            <a:off x="225425" y="1011555"/>
            <a:ext cx="8065135" cy="3587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Activity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18.48_49a49fe0"/>
          <p:cNvPicPr>
            <a:picLocks noChangeAspect="1"/>
          </p:cNvPicPr>
          <p:nvPr/>
        </p:nvPicPr>
        <p:blipFill>
          <a:blip r:embed="rId1"/>
          <a:stretch>
            <a:fillRect/>
          </a:stretch>
        </p:blipFill>
        <p:spPr>
          <a:xfrm>
            <a:off x="2538730" y="982980"/>
            <a:ext cx="3718560" cy="3543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b="1">
                <a:latin typeface="Times New Roman" panose="02020603050405020304" pitchFamily="18" charset="0"/>
                <a:cs typeface="Times New Roman" panose="02020603050405020304" pitchFamily="18" charset="0"/>
              </a:rPr>
              <a:t>Class Diagram</a:t>
            </a:r>
            <a:endParaRPr lang="en-US" altLang="en-GB" sz="2800"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WhatsApp Image 2025-09-02 at 12.22.30_011c8f56"/>
          <p:cNvPicPr>
            <a:picLocks noChangeAspect="1"/>
          </p:cNvPicPr>
          <p:nvPr/>
        </p:nvPicPr>
        <p:blipFill>
          <a:blip r:embed="rId1"/>
          <a:stretch>
            <a:fillRect/>
          </a:stretch>
        </p:blipFill>
        <p:spPr>
          <a:xfrm>
            <a:off x="2557145" y="948690"/>
            <a:ext cx="3996690" cy="4139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u="sng">
                <a:latin typeface="Times New Roman" panose="02020603050405020304" pitchFamily="18" charset="0"/>
                <a:cs typeface="Times New Roman" panose="02020603050405020304" pitchFamily="18" charset="0"/>
              </a:rPr>
              <a:t>Deployment Diagram</a:t>
            </a:r>
            <a:endParaRPr lang="en-US" altLang="en-GB"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4" name="Picture 3" descr="ChatGPT Image Jan 20, 2026, 11_39_42 AM"/>
          <p:cNvPicPr>
            <a:picLocks noChangeAspect="1"/>
          </p:cNvPicPr>
          <p:nvPr/>
        </p:nvPicPr>
        <p:blipFill>
          <a:blip r:embed="rId1"/>
          <a:stretch>
            <a:fillRect/>
          </a:stretch>
        </p:blipFill>
        <p:spPr>
          <a:xfrm>
            <a:off x="1389380" y="1134110"/>
            <a:ext cx="6089015" cy="3165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3600" b="1" u="sng">
                <a:latin typeface="Times New Roman" panose="02020603050405020304" pitchFamily="18" charset="0"/>
                <a:cs typeface="Times New Roman" panose="02020603050405020304" pitchFamily="18" charset="0"/>
              </a:rPr>
              <a:t>ScreenShots</a:t>
            </a:r>
            <a:endParaRPr lang="en-US" altLang="en-GB" sz="3600"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pic>
        <p:nvPicPr>
          <p:cNvPr id="6" name="Picture 5" descr="WhatsApp Image 2026-01-20 at 11.35.19 AM (1)"/>
          <p:cNvPicPr>
            <a:picLocks noChangeAspect="1"/>
          </p:cNvPicPr>
          <p:nvPr/>
        </p:nvPicPr>
        <p:blipFill>
          <a:blip r:embed="rId1"/>
          <a:srcRect l="-1612" b="12144"/>
          <a:stretch>
            <a:fillRect/>
          </a:stretch>
        </p:blipFill>
        <p:spPr>
          <a:xfrm>
            <a:off x="2116455" y="2964815"/>
            <a:ext cx="4784090" cy="1839595"/>
          </a:xfrm>
          <a:prstGeom prst="rect">
            <a:avLst/>
          </a:prstGeom>
        </p:spPr>
      </p:pic>
      <p:pic>
        <p:nvPicPr>
          <p:cNvPr id="7" name="Picture 6" descr="WhatsApp Image 2026-01-20 at 11.35.19 AM"/>
          <p:cNvPicPr>
            <a:picLocks noChangeAspect="1"/>
          </p:cNvPicPr>
          <p:nvPr/>
        </p:nvPicPr>
        <p:blipFill>
          <a:blip r:embed="rId2"/>
          <a:srcRect l="2189" t="14346" r="2592" b="14938"/>
          <a:stretch>
            <a:fillRect/>
          </a:stretch>
        </p:blipFill>
        <p:spPr>
          <a:xfrm>
            <a:off x="2179955" y="1062990"/>
            <a:ext cx="4657090" cy="18357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u="sng">
                <a:latin typeface="Times New Roman" panose="02020603050405020304" pitchFamily="18" charset="0"/>
                <a:cs typeface="Times New Roman" panose="02020603050405020304" pitchFamily="18" charset="0"/>
              </a:rPr>
              <a:t>Result Analysis</a:t>
            </a:r>
            <a:endParaRPr lang="en-US" altLang="en-GB" b="1" u="sng">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
        <p:nvSpPr>
          <p:cNvPr id="5" name="Text Box 4"/>
          <p:cNvSpPr txBox="1"/>
          <p:nvPr/>
        </p:nvSpPr>
        <p:spPr>
          <a:xfrm>
            <a:off x="579120" y="1062990"/>
            <a:ext cx="8177530" cy="3784600"/>
          </a:xfrm>
          <a:prstGeom prst="rect">
            <a:avLst/>
          </a:prstGeom>
        </p:spPr>
        <p:txBody>
          <a:bodyPr wrap="square">
            <a:spAutoFit/>
          </a:bodyPr>
          <a:p>
            <a:pPr>
              <a:lnSpc>
                <a:spcPct val="150000"/>
              </a:lnSpc>
            </a:pPr>
            <a:r>
              <a:rPr lang="en-US" altLang="zh-CN" sz="1600">
                <a:latin typeface="Times New Roman" panose="02020603050405020304" pitchFamily="18" charset="0"/>
                <a:cs typeface="Times New Roman" panose="02020603050405020304" pitchFamily="18" charset="0"/>
              </a:rPr>
              <a:t>The AGRINOVA Application was successfully designed and implemented to assist farmers through intelligent, technology-driven solutions. The system effectively integrates weather prediction, crop disease prediction, and an AI-based chatbot within a single platform.</a:t>
            </a:r>
            <a:endParaRPr lang="en-US" altLang="zh-CN" sz="1600">
              <a:latin typeface="Times New Roman" panose="02020603050405020304" pitchFamily="18" charset="0"/>
              <a:cs typeface="Times New Roman" panose="02020603050405020304" pitchFamily="18" charset="0"/>
            </a:endParaRPr>
          </a:p>
          <a:p>
            <a:pPr>
              <a:lnSpc>
                <a:spcPct val="150000"/>
              </a:lnSpc>
            </a:pPr>
            <a:r>
              <a:rPr lang="en-US" altLang="zh-CN" sz="1600">
                <a:latin typeface="Times New Roman" panose="02020603050405020304" pitchFamily="18" charset="0"/>
                <a:cs typeface="Times New Roman" panose="02020603050405020304" pitchFamily="18" charset="0"/>
              </a:rPr>
              <a:t>The weather prediction module provided accurate short-term forecasts, enabling better planning for irrigation, sowing, and harvesting activities. The crop disease prediction model demonstrated reliable performance in identifying common plant diseases at early stages, helping in timely preventive measures and reducing crop loss. The chatbot module efficiently handled user queries and delivered instant guidance related to farming practices, fertilizers, and disease management.</a:t>
            </a:r>
            <a:endParaRPr lang="en-US" altLang="zh-CN" sz="1600">
              <a:latin typeface="Times New Roman" panose="02020603050405020304" pitchFamily="18" charset="0"/>
              <a:cs typeface="Times New Roman" panose="02020603050405020304" pitchFamily="18" charset="0"/>
            </a:endParaRPr>
          </a:p>
          <a:p>
            <a:pPr>
              <a:lnSpc>
                <a:spcPct val="150000"/>
              </a:lnSpc>
            </a:pPr>
            <a:r>
              <a:rPr lang="en-US" altLang="zh-CN" sz="1600">
                <a:latin typeface="Times New Roman" panose="02020603050405020304" pitchFamily="18" charset="0"/>
                <a:cs typeface="Times New Roman" panose="02020603050405020304" pitchFamily="18" charset="0"/>
              </a:rPr>
              <a:t>Overall, AGRINOVA improved decision-making efficiency, reduced dependency on manual expert consultation, and enhanced agricultural productivity. </a:t>
            </a:r>
            <a:endParaRPr lang="en-US" altLang="zh-C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smtClean="0"/>
            </a:fld>
            <a:endParaRPr lang="en-US"/>
          </a:p>
        </p:txBody>
      </p:sp>
      <p:sp>
        <p:nvSpPr>
          <p:cNvPr id="3" name="Rectangle 2"/>
          <p:cNvSpPr/>
          <p:nvPr/>
        </p:nvSpPr>
        <p:spPr>
          <a:xfrm>
            <a:off x="3159373" y="387043"/>
            <a:ext cx="2619628" cy="523220"/>
          </a:xfrm>
          <a:prstGeom prst="rect">
            <a:avLst/>
          </a:prstGeom>
        </p:spPr>
        <p:txBody>
          <a:bodyPr wrap="none" anchor="ctr">
            <a:spAutoFit/>
          </a:bodyPr>
          <a:lstStyle/>
          <a:p>
            <a:r>
              <a:rPr lang="en-US" sz="2800" b="1" u="sng" dirty="0" smtClean="0">
                <a:latin typeface="Times New Roman" panose="02020603050405020304" pitchFamily="18" charset="0"/>
                <a:cs typeface="Times New Roman" panose="02020603050405020304" pitchFamily="18" charset="0"/>
              </a:rPr>
              <a:t>CONCLUSION</a:t>
            </a:r>
            <a:endParaRPr lang="en-IN" sz="2800" dirty="0"/>
          </a:p>
        </p:txBody>
      </p:sp>
      <p:sp>
        <p:nvSpPr>
          <p:cNvPr id="4" name="TextBox 3"/>
          <p:cNvSpPr txBox="1"/>
          <p:nvPr/>
        </p:nvSpPr>
        <p:spPr>
          <a:xfrm>
            <a:off x="1417674" y="1350335"/>
            <a:ext cx="5209954" cy="3002745"/>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a:t>
            </a:r>
            <a:r>
              <a:rPr lang="en-US" sz="1600" b="1" dirty="0" err="1">
                <a:latin typeface="Times New Roman" panose="02020603050405020304" pitchFamily="18" charset="0"/>
                <a:cs typeface="Times New Roman" panose="02020603050405020304" pitchFamily="18" charset="0"/>
              </a:rPr>
              <a:t>Agrinova</a:t>
            </a:r>
            <a:r>
              <a:rPr lang="en-US" sz="1600" dirty="0">
                <a:latin typeface="Times New Roman" panose="02020603050405020304" pitchFamily="18" charset="0"/>
                <a:cs typeface="Times New Roman" panose="02020603050405020304" pitchFamily="18" charset="0"/>
              </a:rPr>
              <a:t> application is a fusion of </a:t>
            </a:r>
            <a:r>
              <a:rPr lang="en-US" sz="1600" b="1" dirty="0">
                <a:latin typeface="Times New Roman" panose="02020603050405020304" pitchFamily="18" charset="0"/>
                <a:cs typeface="Times New Roman" panose="02020603050405020304" pitchFamily="18" charset="0"/>
              </a:rPr>
              <a:t>Natural Language Processing (NLP)</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Computer Vision (CV)</a:t>
            </a:r>
            <a:r>
              <a:rPr lang="en-US" sz="1600" dirty="0">
                <a:latin typeface="Times New Roman" panose="02020603050405020304" pitchFamily="18" charset="0"/>
                <a:cs typeface="Times New Roman" panose="02020603050405020304" pitchFamily="18" charset="0"/>
              </a:rPr>
              <a:t> tailored for the agricultural domain. By leveraging cutting-edge AI, the project aims to:</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crop health</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Increase yield</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 sustainable farming</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 inclusive access to technology</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smtClean="0"/>
            </a:fld>
            <a:endParaRPr lang="en-US"/>
          </a:p>
        </p:txBody>
      </p:sp>
      <p:sp>
        <p:nvSpPr>
          <p:cNvPr id="3" name="Rectangle 2"/>
          <p:cNvSpPr/>
          <p:nvPr/>
        </p:nvSpPr>
        <p:spPr>
          <a:xfrm>
            <a:off x="3159373" y="344488"/>
            <a:ext cx="2573655" cy="521970"/>
          </a:xfrm>
          <a:prstGeom prst="rect">
            <a:avLst/>
          </a:prstGeom>
        </p:spPr>
        <p:txBody>
          <a:bodyPr wrap="none" anchor="ctr">
            <a:spAutoFit/>
          </a:bodyPr>
          <a:lstStyle/>
          <a:p>
            <a:r>
              <a:rPr lang="en-US" sz="2800" b="1" u="sng" dirty="0" smtClean="0">
                <a:latin typeface="Times New Roman" panose="02020603050405020304" pitchFamily="18" charset="0"/>
                <a:cs typeface="Times New Roman" panose="02020603050405020304" pitchFamily="18" charset="0"/>
              </a:rPr>
              <a:t>REFERENCES</a:t>
            </a:r>
            <a:endParaRPr lang="en-IN" sz="2800" dirty="0"/>
          </a:p>
        </p:txBody>
      </p:sp>
      <p:sp>
        <p:nvSpPr>
          <p:cNvPr id="5" name="Text Box 4"/>
          <p:cNvSpPr txBox="1"/>
          <p:nvPr/>
        </p:nvSpPr>
        <p:spPr>
          <a:xfrm>
            <a:off x="518160" y="1212215"/>
            <a:ext cx="8107045" cy="3046095"/>
          </a:xfrm>
          <a:prstGeom prst="rect">
            <a:avLst/>
          </a:prstGeom>
        </p:spPr>
        <p:txBody>
          <a:bodyPr wrap="square">
            <a:spAutoFit/>
          </a:bodyPr>
          <a:p>
            <a:pPr>
              <a:buAutoNum type="arabicPeriod"/>
            </a:pPr>
            <a:r>
              <a:rPr lang="en-US" altLang="zh-CN" sz="1600">
                <a:latin typeface="Times New Roman" panose="02020603050405020304" pitchFamily="18" charset="0"/>
                <a:cs typeface="Times New Roman" panose="02020603050405020304" pitchFamily="18" charset="0"/>
              </a:rPr>
              <a:t>World Meteorological Organization, Weather Forecasting and Agricultural Applications, WMO Publications, 2022.</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Mohanty, S. P., Hughes, D. P., &amp; Salathé, M., “Using Deep Learning for Image-Based Plant Disease Detection,” Frontiers in Plant Science, 2016.</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Food and Agriculture Organization (FAO), Digital Technologies in Agriculture, FAO Reports, 2021.</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a:buAutoNum type="arabicPeriod"/>
            </a:pPr>
            <a:r>
              <a:rPr lang="en-US" altLang="zh-CN" sz="1600">
                <a:latin typeface="Times New Roman" panose="02020603050405020304" pitchFamily="18" charset="0"/>
                <a:cs typeface="Times New Roman" panose="02020603050405020304" pitchFamily="18" charset="0"/>
              </a:rPr>
              <a:t>OpenWeatherMap API Documentation – Weather Data Services.</a:t>
            </a:r>
            <a:endParaRPr lang="en-US" altLang="zh-CN" sz="1600">
              <a:latin typeface="Times New Roman" panose="02020603050405020304" pitchFamily="18" charset="0"/>
              <a:cs typeface="Times New Roman" panose="02020603050405020304" pitchFamily="18" charset="0"/>
            </a:endParaRPr>
          </a:p>
          <a:p>
            <a:pPr>
              <a:buAutoNum type="arabicPeriod"/>
            </a:pPr>
            <a:endParaRPr lang="en-US" altLang="zh-CN" sz="1600">
              <a:latin typeface="Times New Roman" panose="02020603050405020304" pitchFamily="18" charset="0"/>
              <a:cs typeface="Times New Roman" panose="02020603050405020304" pitchFamily="18" charset="0"/>
            </a:endParaRPr>
          </a:p>
          <a:p>
            <a:pPr indent="0">
              <a:buNone/>
            </a:pPr>
            <a:endParaRPr lang="en-US" altLang="zh-C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3700" y="1714739"/>
            <a:ext cx="8229600" cy="857250"/>
          </a:xfrm>
        </p:spPr>
        <p:txBody>
          <a:bodyPr/>
          <a:p>
            <a:r>
              <a:rPr lang="en-US" altLang="en-GB" b="1">
                <a:latin typeface="Times New Roman" panose="02020603050405020304" pitchFamily="18" charset="0"/>
                <a:cs typeface="Times New Roman" panose="02020603050405020304" pitchFamily="18" charset="0"/>
              </a:rPr>
              <a:t>THANK YOU</a:t>
            </a:r>
            <a:endParaRPr lang="en-US" altLang="en-GB" b="1">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p>
            <a:pPr lvl="0"/>
            <a:fld id="{9A0DB2DC-4C9A-4742-B13C-FB6460FD3503}" type="slidenum">
              <a:rPr lang="en-US"/>
            </a:fld>
            <a:endParaRPr lang="en-US"/>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4433</Words>
  <Application>WPS Presentation</Application>
  <PresentationFormat>On-screen Show (16:9)</PresentationFormat>
  <Paragraphs>152</Paragraphs>
  <Slides>20</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Overlock</vt:lpstr>
      <vt:lpstr>Times New Roman</vt:lpstr>
      <vt:lpstr>Poppins</vt:lpstr>
      <vt:lpstr>Arial Rounded</vt:lpstr>
      <vt:lpstr>Microsoft YaHei</vt:lpstr>
      <vt:lpstr>Arial Unicode MS</vt:lpstr>
      <vt:lpstr>Default Design</vt:lpstr>
      <vt:lpstr>DEPARTMENT OF CSE(AI&amp;ML) Major Project    AGRINOVA  APPLICATION USING AI&amp;ML</vt:lpstr>
      <vt:lpstr>PowerPoint 演示文稿</vt:lpstr>
      <vt:lpstr>PowerPoint 演示文稿</vt:lpstr>
      <vt:lpstr>PowerPoint 演示文稿</vt:lpstr>
      <vt:lpstr>PowerPoint 演示文稿</vt:lpstr>
      <vt:lpstr>PowerPoint 演示文稿</vt:lpstr>
      <vt:lpstr>ADVANTAGES</vt:lpstr>
      <vt:lpstr>ARCHITECTURE</vt:lpstr>
      <vt:lpstr>Software Requirements</vt:lpstr>
      <vt:lpstr>Hardware Requirements</vt:lpstr>
      <vt:lpstr>UseCase Diagram</vt:lpstr>
      <vt:lpstr>Sequence Diagram</vt:lpstr>
      <vt:lpstr>Activity Diagram</vt:lpstr>
      <vt:lpstr>Class Diagram</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CSE(AI&amp;ML) Real Time Research Project On Spam Email Detection Using Python</dc:title>
  <dc:creator>Mallikarjun yadav Bingi</dc:creator>
  <cp:lastModifiedBy>Karthik Reddy U</cp:lastModifiedBy>
  <cp:revision>39</cp:revision>
  <dcterms:created xsi:type="dcterms:W3CDTF">2024-04-15T07:36:00Z</dcterms:created>
  <dcterms:modified xsi:type="dcterms:W3CDTF">2026-01-20T06:14:28Z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D295CED15E9E443CB3215FAEE0D86EE8_13</vt:lpwstr>
  </property>
  <property fmtid="{D5CDD505-2E9C-101B-9397-08002B2CF9AE}" pid="3" name="KSOProductBuildVer">
    <vt:lpwstr>2057-12.2.0.23197</vt:lpwstr>
  </property>
</Properties>
</file>